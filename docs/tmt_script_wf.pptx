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8" r:id="rId11"/>
    <p:sldId id="270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DA1A0-6BFA-10F2-D3AB-289086987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BBD6C-2626-3762-9FB3-9F957DA6A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67034-1066-4CBE-9104-E35B3D4B5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F4D10-B226-3B9C-2D77-9C146B0A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16FDE-C225-83BC-5A19-8A697CA38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87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E91AC-3457-C071-ABAA-B843BE401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1A2C6-5B75-8EFD-69F6-C5C91F2E0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597F2-739E-5B45-F698-294B3832E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A3ADE-1BC8-8773-7DC4-A638AFCC0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7DF87-49BC-314D-5F98-A67CFC75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17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41A94-C05A-C041-AC4F-698E989C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A752-3EE2-530A-B269-1980E8DBE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06E0C-5C4C-AB8C-648D-C7210713B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22D4A-ECDB-C648-BD98-AAAFC1DCA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B2251-EBEE-F620-018E-00D28E0F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8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1869A-CB2D-B6FB-C1B9-5A149DFDB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F6713-A634-79BA-64EE-5A70E57966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CD0C4-0A52-2E88-6AA0-2E5DEA9B7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4E73F-BB25-EC64-4961-805B1882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704A3-5834-1E96-CF91-A22A60AF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7EF21-C263-1897-0471-E29FA3825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203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CE33A-A298-0F3A-9787-494CDDD9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08FEC-97F9-92DA-50DA-60781B30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9B5D6D-2114-EA14-A934-8BA66ADA70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CBFB83-3B8C-024B-8446-4627912924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7B933-FCB1-BE75-97B5-DE1EAEEA5A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4D204E-2DC6-73DC-0161-B6CC5B78A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3575BD-DF2E-3F82-D615-152EED2A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503715-1849-E88F-5E3F-3F497A622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2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F0AE-985C-8C23-D69F-1D6A25C9E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05C09A-98E6-6991-5D84-F15AD7E4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2741D4-A694-B226-9063-54B0DD780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26509A-23BD-9301-6777-F65F6BD41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07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3F1659-AD29-5638-EBA3-6D6992AF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8242B0-549B-DB7A-419A-39DEA2AE5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4730B-5C83-1A9B-D0E1-E1DD74EF4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612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8B236-7538-002D-BC07-BF30B220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F9EC4-F499-A467-561E-3F144BA87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20EF9-70CE-3298-65E4-88B20A395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A947E-A452-5264-1EF1-90C5586B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C2ACDF-BB22-29CF-F5B5-CBE97AA42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61AD0-D4C1-A71E-960F-2D796AB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84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5139-920E-98D3-F50D-A14E4AD26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922D6-945A-A308-1069-5FAF998EB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86943F-4DEC-927A-29C8-EACE8EF4D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2C991-9DD5-8386-ACDE-10D7DD18B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D728B-303E-E34E-AF60-9D36D9EE1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59BE8-B7CE-26EE-834E-02DAB5F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9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D74B-0452-08F4-F314-7AE7DD720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36842-C836-06EB-748D-251FEDA8A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9A4E6-0392-EE59-B497-637D2FB16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E2459D-2023-9EE7-6098-D68DBD3D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8CEBF-D481-0AB1-8A55-BF3FAFB6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15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C42C1-BE38-3AF9-CC8F-A99577A1BD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118E2-A670-4670-4A61-697E38FA9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72B7F-9A66-60DF-3D2C-C85FED72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2327E-6C32-5262-F5D3-965A2FEDE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D6E03-66AE-CE09-3AF3-704E01FAA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83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DBE79C-C29A-1AB9-BA11-85415FB9C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9B7E6-C5DF-E894-3797-1DEB2ACE62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BEE77-7CE1-EEFE-569C-AC4F0FC8DD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58DC64-27A5-46BA-A93D-FCAFDDBC382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FD2D9-C05D-9337-DAD6-45B14CA38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04E7E-2E47-2BA1-4778-08DCC39BE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8C10B-E83C-4204-8365-79FF44EA0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77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49778A-E96F-1D86-4F81-199A2B0D079E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Input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A452C-85BA-341B-0DBA-E5F947F50521}"/>
              </a:ext>
            </a:extLst>
          </p:cNvPr>
          <p:cNvSpPr/>
          <p:nvPr/>
        </p:nvSpPr>
        <p:spPr>
          <a:xfrm>
            <a:off x="321013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561CB7-5EC7-A72A-1DD7-17AC2AE3D68A}"/>
              </a:ext>
            </a:extLst>
          </p:cNvPr>
          <p:cNvSpPr/>
          <p:nvPr/>
        </p:nvSpPr>
        <p:spPr>
          <a:xfrm>
            <a:off x="2976664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A969EC-CDAB-9C61-3FA5-C501B0076361}"/>
              </a:ext>
            </a:extLst>
          </p:cNvPr>
          <p:cNvSpPr/>
          <p:nvPr/>
        </p:nvSpPr>
        <p:spPr>
          <a:xfrm>
            <a:off x="2976663" y="3228230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203AA2-3667-37AE-8390-0E2A839BAC28}"/>
              </a:ext>
            </a:extLst>
          </p:cNvPr>
          <p:cNvSpPr/>
          <p:nvPr/>
        </p:nvSpPr>
        <p:spPr>
          <a:xfrm>
            <a:off x="2976662" y="4762832"/>
            <a:ext cx="1924215" cy="153460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DB9D2-8BBD-A351-CD67-4615C047E1FD}"/>
              </a:ext>
            </a:extLst>
          </p:cNvPr>
          <p:cNvSpPr txBox="1"/>
          <p:nvPr/>
        </p:nvSpPr>
        <p:spPr>
          <a:xfrm>
            <a:off x="321013" y="1324296"/>
            <a:ext cx="19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RAW </a:t>
            </a:r>
            <a:r>
              <a:rPr lang="de-AT" dirty="0" err="1"/>
              <a:t>file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2555A0-4F8E-E262-BEE6-B477A6D9F87D}"/>
              </a:ext>
            </a:extLst>
          </p:cNvPr>
          <p:cNvSpPr txBox="1"/>
          <p:nvPr/>
        </p:nvSpPr>
        <p:spPr>
          <a:xfrm>
            <a:off x="2976660" y="753551"/>
            <a:ext cx="1924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Main </a:t>
            </a:r>
            <a:r>
              <a:rPr lang="de-AT" dirty="0" err="1"/>
              <a:t>report</a:t>
            </a:r>
            <a:r>
              <a:rPr lang="de-AT" dirty="0"/>
              <a:t> (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RAW </a:t>
            </a:r>
            <a:r>
              <a:rPr lang="de-AT" dirty="0" err="1"/>
              <a:t>files</a:t>
            </a:r>
            <a:r>
              <a:rPr lang="de-AT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E4DC81-83BF-00BE-0C9E-D77625ED8ACF}"/>
              </a:ext>
            </a:extLst>
          </p:cNvPr>
          <p:cNvSpPr txBox="1"/>
          <p:nvPr/>
        </p:nvSpPr>
        <p:spPr>
          <a:xfrm>
            <a:off x="659958" y="2250219"/>
            <a:ext cx="89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96CD9D-990B-659B-FBFA-1915F699D580}"/>
              </a:ext>
            </a:extLst>
          </p:cNvPr>
          <p:cNvSpPr txBox="1"/>
          <p:nvPr/>
        </p:nvSpPr>
        <p:spPr>
          <a:xfrm>
            <a:off x="3188472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A686F-0876-0B26-EB6D-4FD4ABA43A10}"/>
              </a:ext>
            </a:extLst>
          </p:cNvPr>
          <p:cNvSpPr txBox="1"/>
          <p:nvPr/>
        </p:nvSpPr>
        <p:spPr>
          <a:xfrm>
            <a:off x="3111873" y="3672365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E3F179-C87A-DFE4-F594-1CE6F1486D34}"/>
              </a:ext>
            </a:extLst>
          </p:cNvPr>
          <p:cNvSpPr txBox="1"/>
          <p:nvPr/>
        </p:nvSpPr>
        <p:spPr>
          <a:xfrm>
            <a:off x="3188471" y="5089023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083503-35C3-4639-EC41-337426A1F992}"/>
              </a:ext>
            </a:extLst>
          </p:cNvPr>
          <p:cNvSpPr txBox="1"/>
          <p:nvPr/>
        </p:nvSpPr>
        <p:spPr>
          <a:xfrm>
            <a:off x="321013" y="55152"/>
            <a:ext cx="318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 err="1"/>
              <a:t>Example</a:t>
            </a:r>
            <a:r>
              <a:rPr lang="de-AT" b="1" dirty="0"/>
              <a:t> 1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AEC30D-918D-383F-B9C7-F7D74633691B}"/>
              </a:ext>
            </a:extLst>
          </p:cNvPr>
          <p:cNvSpPr/>
          <p:nvPr/>
        </p:nvSpPr>
        <p:spPr>
          <a:xfrm>
            <a:off x="6096000" y="1693628"/>
            <a:ext cx="1924215" cy="153460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9E52AA-EA77-79CA-22BA-F17B2A416614}"/>
              </a:ext>
            </a:extLst>
          </p:cNvPr>
          <p:cNvSpPr/>
          <p:nvPr/>
        </p:nvSpPr>
        <p:spPr>
          <a:xfrm>
            <a:off x="8745109" y="1693628"/>
            <a:ext cx="1924215" cy="1534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73C49-B01C-0AD5-9D59-A121A0ADC29C}"/>
              </a:ext>
            </a:extLst>
          </p:cNvPr>
          <p:cNvSpPr txBox="1"/>
          <p:nvPr/>
        </p:nvSpPr>
        <p:spPr>
          <a:xfrm>
            <a:off x="6096000" y="1270875"/>
            <a:ext cx="1561106" cy="367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config.toml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431DC1-87C2-6892-01DF-089651D2F905}"/>
              </a:ext>
            </a:extLst>
          </p:cNvPr>
          <p:cNvSpPr txBox="1"/>
          <p:nvPr/>
        </p:nvSpPr>
        <p:spPr>
          <a:xfrm>
            <a:off x="8745109" y="1328675"/>
            <a:ext cx="183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Resolution.csv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92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43FCD-394F-9AA4-8FC7-618538848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FB5F3A-B1FB-4327-2A7E-A72BB3DFF425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69BFAA-BA61-10A9-0AB7-33672F738ADE}"/>
              </a:ext>
            </a:extLst>
          </p:cNvPr>
          <p:cNvSpPr/>
          <p:nvPr/>
        </p:nvSpPr>
        <p:spPr>
          <a:xfrm>
            <a:off x="321013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01F7C-3F70-7394-48FF-0C9DEEBC5DA0}"/>
              </a:ext>
            </a:extLst>
          </p:cNvPr>
          <p:cNvSpPr/>
          <p:nvPr/>
        </p:nvSpPr>
        <p:spPr>
          <a:xfrm>
            <a:off x="2976664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2C6220-673C-F956-F277-B37A88F79B00}"/>
              </a:ext>
            </a:extLst>
          </p:cNvPr>
          <p:cNvSpPr/>
          <p:nvPr/>
        </p:nvSpPr>
        <p:spPr>
          <a:xfrm>
            <a:off x="2976663" y="3228230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9AD8D9-229A-0F10-A48D-B1D3A199E544}"/>
              </a:ext>
            </a:extLst>
          </p:cNvPr>
          <p:cNvSpPr/>
          <p:nvPr/>
        </p:nvSpPr>
        <p:spPr>
          <a:xfrm>
            <a:off x="2976662" y="4762832"/>
            <a:ext cx="1924215" cy="153460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F571A5-6ADE-B697-B2D1-29E99DEB6C12}"/>
              </a:ext>
            </a:extLst>
          </p:cNvPr>
          <p:cNvSpPr txBox="1"/>
          <p:nvPr/>
        </p:nvSpPr>
        <p:spPr>
          <a:xfrm>
            <a:off x="321013" y="1324296"/>
            <a:ext cx="19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RAW </a:t>
            </a:r>
            <a:r>
              <a:rPr lang="de-AT" dirty="0" err="1"/>
              <a:t>file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609E66-0AD9-581E-7EBA-41B66F07D4F0}"/>
              </a:ext>
            </a:extLst>
          </p:cNvPr>
          <p:cNvSpPr txBox="1"/>
          <p:nvPr/>
        </p:nvSpPr>
        <p:spPr>
          <a:xfrm>
            <a:off x="2976660" y="753551"/>
            <a:ext cx="1924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Main </a:t>
            </a:r>
            <a:r>
              <a:rPr lang="de-AT" dirty="0" err="1"/>
              <a:t>report</a:t>
            </a:r>
            <a:r>
              <a:rPr lang="de-AT" dirty="0"/>
              <a:t> (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RAW </a:t>
            </a:r>
            <a:r>
              <a:rPr lang="de-AT" dirty="0" err="1"/>
              <a:t>files</a:t>
            </a:r>
            <a:r>
              <a:rPr lang="de-AT" dirty="0"/>
              <a:t>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206A1-2F57-1709-0E60-C616E3508FE9}"/>
              </a:ext>
            </a:extLst>
          </p:cNvPr>
          <p:cNvSpPr txBox="1"/>
          <p:nvPr/>
        </p:nvSpPr>
        <p:spPr>
          <a:xfrm>
            <a:off x="659958" y="2250219"/>
            <a:ext cx="89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EB429B-6739-9449-859A-8DBD4EC78717}"/>
              </a:ext>
            </a:extLst>
          </p:cNvPr>
          <p:cNvSpPr txBox="1"/>
          <p:nvPr/>
        </p:nvSpPr>
        <p:spPr>
          <a:xfrm>
            <a:off x="3188472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13E0F-C6E7-1044-7D9A-ADE717AF5A11}"/>
              </a:ext>
            </a:extLst>
          </p:cNvPr>
          <p:cNvSpPr txBox="1"/>
          <p:nvPr/>
        </p:nvSpPr>
        <p:spPr>
          <a:xfrm>
            <a:off x="3111873" y="3672365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B68F2C-5BEA-7EB3-EBA8-3C6416EDC091}"/>
              </a:ext>
            </a:extLst>
          </p:cNvPr>
          <p:cNvSpPr txBox="1"/>
          <p:nvPr/>
        </p:nvSpPr>
        <p:spPr>
          <a:xfrm>
            <a:off x="3188471" y="5089023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00E5FA3-1AEA-E894-C4DF-3538A48DEDB3}"/>
              </a:ext>
            </a:extLst>
          </p:cNvPr>
          <p:cNvCxnSpPr>
            <a:cxnSpLocks/>
          </p:cNvCxnSpPr>
          <p:nvPr/>
        </p:nvCxnSpPr>
        <p:spPr>
          <a:xfrm>
            <a:off x="5112689" y="2425148"/>
            <a:ext cx="3705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75D4E32-D573-3571-DC3F-FAEC48E211A4}"/>
              </a:ext>
            </a:extLst>
          </p:cNvPr>
          <p:cNvSpPr txBox="1"/>
          <p:nvPr/>
        </p:nvSpPr>
        <p:spPr>
          <a:xfrm>
            <a:off x="5518205" y="1463040"/>
            <a:ext cx="3077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Filter </a:t>
            </a:r>
            <a:r>
              <a:rPr lang="de-AT" dirty="0" err="1"/>
              <a:t>main</a:t>
            </a:r>
            <a:r>
              <a:rPr lang="de-AT" dirty="0"/>
              <a:t> </a:t>
            </a:r>
            <a:r>
              <a:rPr lang="de-AT" dirty="0" err="1"/>
              <a:t>report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contain</a:t>
            </a:r>
            <a:r>
              <a:rPr lang="de-AT" dirty="0"/>
              <a:t>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RAW1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B9A478-25DB-0237-98B3-02F1E73A1681}"/>
              </a:ext>
            </a:extLst>
          </p:cNvPr>
          <p:cNvSpPr/>
          <p:nvPr/>
        </p:nvSpPr>
        <p:spPr>
          <a:xfrm>
            <a:off x="9212686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71492F-4C0D-3F28-8513-6908A5E6027E}"/>
              </a:ext>
            </a:extLst>
          </p:cNvPr>
          <p:cNvSpPr txBox="1"/>
          <p:nvPr/>
        </p:nvSpPr>
        <p:spPr>
          <a:xfrm>
            <a:off x="9424494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3293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A3458-0FDF-06D8-4371-8BFA4AF5C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B54C57-7B95-AFE4-62B1-78260F78154A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2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A2DF71C-0F5B-C358-AF2D-E15D57F0CEBF}"/>
              </a:ext>
            </a:extLst>
          </p:cNvPr>
          <p:cNvCxnSpPr>
            <a:cxnSpLocks/>
          </p:cNvCxnSpPr>
          <p:nvPr/>
        </p:nvCxnSpPr>
        <p:spPr>
          <a:xfrm>
            <a:off x="3053301" y="2512613"/>
            <a:ext cx="3705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F7AB87D-3E68-A40B-33F4-55C1E1FF5D13}"/>
              </a:ext>
            </a:extLst>
          </p:cNvPr>
          <p:cNvSpPr/>
          <p:nvPr/>
        </p:nvSpPr>
        <p:spPr>
          <a:xfrm>
            <a:off x="537813" y="1725433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E0C2E-6057-13F2-96A3-612E4C85B20D}"/>
              </a:ext>
            </a:extLst>
          </p:cNvPr>
          <p:cNvSpPr txBox="1"/>
          <p:nvPr/>
        </p:nvSpPr>
        <p:spPr>
          <a:xfrm>
            <a:off x="749621" y="21695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01A3C9-5EE8-7F67-7242-ED0B73FEFC11}"/>
              </a:ext>
            </a:extLst>
          </p:cNvPr>
          <p:cNvSpPr txBox="1"/>
          <p:nvPr/>
        </p:nvSpPr>
        <p:spPr>
          <a:xfrm>
            <a:off x="3506526" y="1125268"/>
            <a:ext cx="3005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Quantify</a:t>
            </a:r>
            <a:r>
              <a:rPr lang="de-AT" dirty="0"/>
              <a:t>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OpenMS</a:t>
            </a:r>
            <a:r>
              <a:rPr lang="de-AT" dirty="0"/>
              <a:t>, </a:t>
            </a:r>
            <a:r>
              <a:rPr lang="de-AT" dirty="0" err="1"/>
              <a:t>add</a:t>
            </a:r>
            <a:r>
              <a:rPr lang="de-AT" dirty="0"/>
              <a:t> </a:t>
            </a:r>
            <a:r>
              <a:rPr lang="de-AT" dirty="0" err="1"/>
              <a:t>columns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Resolution.csv, </a:t>
            </a:r>
            <a:r>
              <a:rPr lang="de-AT" dirty="0" err="1"/>
              <a:t>subtract</a:t>
            </a:r>
            <a:r>
              <a:rPr lang="de-AT" dirty="0"/>
              <a:t> </a:t>
            </a:r>
            <a:r>
              <a:rPr lang="de-AT" dirty="0" err="1"/>
              <a:t>noise</a:t>
            </a:r>
            <a:r>
              <a:rPr lang="de-AT" dirty="0"/>
              <a:t>, </a:t>
            </a:r>
            <a:r>
              <a:rPr lang="de-AT" dirty="0" err="1"/>
              <a:t>calculate</a:t>
            </a:r>
            <a:r>
              <a:rPr lang="de-AT" dirty="0"/>
              <a:t> S/N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00B8B5-8DC6-BA06-A29B-574E650D21D2}"/>
              </a:ext>
            </a:extLst>
          </p:cNvPr>
          <p:cNvSpPr/>
          <p:nvPr/>
        </p:nvSpPr>
        <p:spPr>
          <a:xfrm>
            <a:off x="7075111" y="1725433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9D55C-B5C6-2571-A4B8-9140FA655881}"/>
              </a:ext>
            </a:extLst>
          </p:cNvPr>
          <p:cNvSpPr txBox="1"/>
          <p:nvPr/>
        </p:nvSpPr>
        <p:spPr>
          <a:xfrm>
            <a:off x="7286919" y="21695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F5B430-754B-BF1B-2873-3265D19846EE}"/>
              </a:ext>
            </a:extLst>
          </p:cNvPr>
          <p:cNvSpPr/>
          <p:nvPr/>
        </p:nvSpPr>
        <p:spPr>
          <a:xfrm>
            <a:off x="8999325" y="1725431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C6CCFA4-3D4D-8DA3-36E6-B377662B6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333898"/>
              </p:ext>
            </p:extLst>
          </p:nvPr>
        </p:nvGraphicFramePr>
        <p:xfrm>
          <a:off x="3657601" y="88522"/>
          <a:ext cx="836446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154">
                  <a:extLst>
                    <a:ext uri="{9D8B030D-6E8A-4147-A177-3AD203B41FA5}">
                      <a16:colId xmlns:a16="http://schemas.microsoft.com/office/drawing/2014/main" val="2068300146"/>
                    </a:ext>
                  </a:extLst>
                </a:gridCol>
                <a:gridCol w="2788154">
                  <a:extLst>
                    <a:ext uri="{9D8B030D-6E8A-4147-A177-3AD203B41FA5}">
                      <a16:colId xmlns:a16="http://schemas.microsoft.com/office/drawing/2014/main" val="1470521782"/>
                    </a:ext>
                  </a:extLst>
                </a:gridCol>
                <a:gridCol w="2788154">
                  <a:extLst>
                    <a:ext uri="{9D8B030D-6E8A-4147-A177-3AD203B41FA5}">
                      <a16:colId xmlns:a16="http://schemas.microsoft.com/office/drawing/2014/main" val="2355916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808430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5379389-D306-552D-FE01-01C9FDE0F970}"/>
              </a:ext>
            </a:extLst>
          </p:cNvPr>
          <p:cNvCxnSpPr/>
          <p:nvPr/>
        </p:nvCxnSpPr>
        <p:spPr>
          <a:xfrm>
            <a:off x="3657601" y="728602"/>
            <a:ext cx="5341724" cy="99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25147CC-42A2-A076-01B9-E32E4CA1B06B}"/>
              </a:ext>
            </a:extLst>
          </p:cNvPr>
          <p:cNvCxnSpPr/>
          <p:nvPr/>
        </p:nvCxnSpPr>
        <p:spPr>
          <a:xfrm flipH="1">
            <a:off x="11783832" y="728602"/>
            <a:ext cx="238231" cy="99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513D6D-CD3D-9415-FC81-B90ED3E763BB}"/>
              </a:ext>
            </a:extLst>
          </p:cNvPr>
          <p:cNvSpPr txBox="1"/>
          <p:nvPr/>
        </p:nvSpPr>
        <p:spPr>
          <a:xfrm>
            <a:off x="9245816" y="2169569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62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F702D-FB74-0F80-015D-50A62EDA5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FA2748-B374-42B4-F216-B0F05EAB87DC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3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2DEB1F-CB65-1786-E669-45B1E58FACDB}"/>
              </a:ext>
            </a:extLst>
          </p:cNvPr>
          <p:cNvSpPr/>
          <p:nvPr/>
        </p:nvSpPr>
        <p:spPr>
          <a:xfrm>
            <a:off x="321013" y="1184745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3CF85-7469-79B0-E06D-018BA5E92E30}"/>
              </a:ext>
            </a:extLst>
          </p:cNvPr>
          <p:cNvSpPr txBox="1"/>
          <p:nvPr/>
        </p:nvSpPr>
        <p:spPr>
          <a:xfrm>
            <a:off x="532821" y="1628881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F99C68-499C-15BC-70E2-68F72B7F0FC4}"/>
              </a:ext>
            </a:extLst>
          </p:cNvPr>
          <p:cNvSpPr/>
          <p:nvPr/>
        </p:nvSpPr>
        <p:spPr>
          <a:xfrm>
            <a:off x="2245227" y="1184743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90B892-65AA-CB50-8D4C-8F8ABB3A7261}"/>
              </a:ext>
            </a:extLst>
          </p:cNvPr>
          <p:cNvSpPr txBox="1"/>
          <p:nvPr/>
        </p:nvSpPr>
        <p:spPr>
          <a:xfrm>
            <a:off x="2491718" y="1628881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CBB509-3861-BEC8-0DCA-135D5734D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115924"/>
              </p:ext>
            </p:extLst>
          </p:nvPr>
        </p:nvGraphicFramePr>
        <p:xfrm>
          <a:off x="321012" y="3295888"/>
          <a:ext cx="97373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103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866513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2516830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757095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4303846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45BB44-CEBA-0CF5-8C58-6B0C273093DC}"/>
              </a:ext>
            </a:extLst>
          </p:cNvPr>
          <p:cNvCxnSpPr/>
          <p:nvPr/>
        </p:nvCxnSpPr>
        <p:spPr>
          <a:xfrm>
            <a:off x="5029734" y="5319423"/>
            <a:ext cx="0" cy="1304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F327823-D57C-1188-E53A-51E3EF109435}"/>
              </a:ext>
            </a:extLst>
          </p:cNvPr>
          <p:cNvSpPr txBox="1"/>
          <p:nvPr/>
        </p:nvSpPr>
        <p:spPr>
          <a:xfrm>
            <a:off x="5383032" y="5726629"/>
            <a:ext cx="414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Summiere alle </a:t>
            </a:r>
            <a:r>
              <a:rPr lang="de-AT" dirty="0" err="1"/>
              <a:t>precursor</a:t>
            </a:r>
            <a:r>
              <a:rPr lang="de-AT" dirty="0"/>
              <a:t> zu PG</a:t>
            </a:r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3166D319-D2FC-8133-E71C-481D960EB92D}"/>
              </a:ext>
            </a:extLst>
          </p:cNvPr>
          <p:cNvSpPr/>
          <p:nvPr/>
        </p:nvSpPr>
        <p:spPr>
          <a:xfrm rot="5400000">
            <a:off x="1149899" y="1954069"/>
            <a:ext cx="512931" cy="2170706"/>
          </a:xfrm>
          <a:prstGeom prst="leftBrace">
            <a:avLst>
              <a:gd name="adj1" fmla="val 8333"/>
              <a:gd name="adj2" fmla="val 503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446C6D8-9D43-DF1A-9C1C-671A932B458D}"/>
              </a:ext>
            </a:extLst>
          </p:cNvPr>
          <p:cNvSpPr/>
          <p:nvPr/>
        </p:nvSpPr>
        <p:spPr>
          <a:xfrm rot="5400000">
            <a:off x="6025058" y="-737453"/>
            <a:ext cx="512931" cy="7553754"/>
          </a:xfrm>
          <a:prstGeom prst="leftBrace">
            <a:avLst>
              <a:gd name="adj1" fmla="val 8333"/>
              <a:gd name="adj2" fmla="val 86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37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0776D88-5F62-8AB3-B3A3-A3E9877C987F}"/>
              </a:ext>
            </a:extLst>
          </p:cNvPr>
          <p:cNvCxnSpPr>
            <a:cxnSpLocks/>
          </p:cNvCxnSpPr>
          <p:nvPr/>
        </p:nvCxnSpPr>
        <p:spPr>
          <a:xfrm>
            <a:off x="5053588" y="71562"/>
            <a:ext cx="0" cy="776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44B62FC-BF40-DCF7-E98D-323ADC627E52}"/>
              </a:ext>
            </a:extLst>
          </p:cNvPr>
          <p:cNvSpPr txBox="1"/>
          <p:nvPr/>
        </p:nvSpPr>
        <p:spPr>
          <a:xfrm>
            <a:off x="5406886" y="478768"/>
            <a:ext cx="414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Summiere alle </a:t>
            </a:r>
            <a:r>
              <a:rPr lang="de-AT" dirty="0" err="1"/>
              <a:t>precursor</a:t>
            </a:r>
            <a:r>
              <a:rPr lang="de-AT" dirty="0"/>
              <a:t> zu PG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A34EFF-EB4F-6B27-40B0-80537393D76B}"/>
              </a:ext>
            </a:extLst>
          </p:cNvPr>
          <p:cNvSpPr txBox="1"/>
          <p:nvPr/>
        </p:nvSpPr>
        <p:spPr>
          <a:xfrm>
            <a:off x="1987826" y="1023799"/>
            <a:ext cx="7140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Precursor</a:t>
            </a:r>
            <a:r>
              <a:rPr lang="de-AT" dirty="0"/>
              <a:t> wird nur dann summiert wenn:</a:t>
            </a:r>
          </a:p>
          <a:p>
            <a:pPr marL="285750" indent="-285750">
              <a:buFontTx/>
              <a:buChar char="-"/>
            </a:pPr>
            <a:r>
              <a:rPr lang="de-AT" dirty="0" err="1"/>
              <a:t>Qvalue</a:t>
            </a:r>
            <a:r>
              <a:rPr lang="de-AT" dirty="0"/>
              <a:t> &lt; 0.01 (oder was in </a:t>
            </a:r>
            <a:r>
              <a:rPr lang="de-AT" dirty="0" err="1"/>
              <a:t>config.toml</a:t>
            </a:r>
            <a:r>
              <a:rPr lang="de-AT" dirty="0"/>
              <a:t> definiert ist)</a:t>
            </a:r>
          </a:p>
          <a:p>
            <a:pPr marL="285750" indent="-285750">
              <a:buFontTx/>
              <a:buChar char="-"/>
            </a:pPr>
            <a:r>
              <a:rPr lang="de-AT" dirty="0" err="1"/>
              <a:t>Purity</a:t>
            </a:r>
            <a:r>
              <a:rPr lang="de-AT" dirty="0"/>
              <a:t> &gt;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endParaRPr lang="de-AT" dirty="0"/>
          </a:p>
          <a:p>
            <a:r>
              <a:rPr lang="de-AT" dirty="0"/>
              <a:t>Reporter wird nur dann summiert wenn:</a:t>
            </a:r>
          </a:p>
          <a:p>
            <a:pPr marL="285750" indent="-285750">
              <a:buFontTx/>
              <a:buChar char="-"/>
            </a:pPr>
            <a:r>
              <a:rPr lang="de-AT" dirty="0"/>
              <a:t>S/N von </a:t>
            </a:r>
            <a:r>
              <a:rPr lang="de-AT" dirty="0" err="1"/>
              <a:t>condition</a:t>
            </a:r>
            <a:r>
              <a:rPr lang="de-AT" dirty="0"/>
              <a:t>, in der </a:t>
            </a:r>
            <a:r>
              <a:rPr lang="de-AT" dirty="0" err="1"/>
              <a:t>reporter</a:t>
            </a:r>
            <a:r>
              <a:rPr lang="de-AT" dirty="0"/>
              <a:t> ist, größer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r>
              <a:rPr lang="de-AT" dirty="0"/>
              <a:t>Reporter </a:t>
            </a:r>
            <a:r>
              <a:rPr lang="de-AT" dirty="0" err="1"/>
              <a:t>resolution</a:t>
            </a:r>
            <a:r>
              <a:rPr lang="de-AT" dirty="0"/>
              <a:t> &gt;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endParaRPr lang="de-AT" dirty="0"/>
          </a:p>
          <a:p>
            <a:r>
              <a:rPr lang="de-AT" dirty="0"/>
              <a:t>Summiert werden alle </a:t>
            </a:r>
            <a:r>
              <a:rPr lang="de-AT" dirty="0" err="1"/>
              <a:t>Precursor</a:t>
            </a:r>
            <a:r>
              <a:rPr lang="de-AT" dirty="0"/>
              <a:t> die selbe PG haben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E9C953-68A3-512A-DC3C-0121076AB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250951"/>
              </p:ext>
            </p:extLst>
          </p:nvPr>
        </p:nvGraphicFramePr>
        <p:xfrm>
          <a:off x="281100" y="4283544"/>
          <a:ext cx="1162979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2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596347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1550505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  <a:gridCol w="3013544">
                  <a:extLst>
                    <a:ext uri="{9D8B030D-6E8A-4147-A177-3AD203B41FA5}">
                      <a16:colId xmlns:a16="http://schemas.microsoft.com/office/drawing/2014/main" val="1084641698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596730685"/>
                    </a:ext>
                  </a:extLst>
                </a:gridCol>
                <a:gridCol w="2668679">
                  <a:extLst>
                    <a:ext uri="{9D8B030D-6E8A-4147-A177-3AD203B41FA5}">
                      <a16:colId xmlns:a16="http://schemas.microsoft.com/office/drawing/2014/main" val="139885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TMTpro-126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TMTpro-135N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4DB350-B551-C377-B051-F43E59538A12}"/>
              </a:ext>
            </a:extLst>
          </p:cNvPr>
          <p:cNvCxnSpPr>
            <a:cxnSpLocks/>
          </p:cNvCxnSpPr>
          <p:nvPr/>
        </p:nvCxnSpPr>
        <p:spPr>
          <a:xfrm>
            <a:off x="5053588" y="3784821"/>
            <a:ext cx="0" cy="408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60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6A3554-A99A-E786-AC3E-AC682C3AD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488644"/>
              </p:ext>
            </p:extLst>
          </p:nvPr>
        </p:nvGraphicFramePr>
        <p:xfrm>
          <a:off x="153879" y="164769"/>
          <a:ext cx="1162979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2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596347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1550505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  <a:gridCol w="3013544">
                  <a:extLst>
                    <a:ext uri="{9D8B030D-6E8A-4147-A177-3AD203B41FA5}">
                      <a16:colId xmlns:a16="http://schemas.microsoft.com/office/drawing/2014/main" val="1084641698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596730685"/>
                    </a:ext>
                  </a:extLst>
                </a:gridCol>
                <a:gridCol w="2668679">
                  <a:extLst>
                    <a:ext uri="{9D8B030D-6E8A-4147-A177-3AD203B41FA5}">
                      <a16:colId xmlns:a16="http://schemas.microsoft.com/office/drawing/2014/main" val="139885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TMTpro-126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TMTpro-135N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D1340ED-420E-B664-9FEE-73FEDBDF52A3}"/>
              </a:ext>
            </a:extLst>
          </p:cNvPr>
          <p:cNvSpPr/>
          <p:nvPr/>
        </p:nvSpPr>
        <p:spPr>
          <a:xfrm>
            <a:off x="153879" y="3244133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2FC44-5C6B-D840-2B6F-7C7F3EC1D1D9}"/>
              </a:ext>
            </a:extLst>
          </p:cNvPr>
          <p:cNvSpPr txBox="1"/>
          <p:nvPr/>
        </p:nvSpPr>
        <p:spPr>
          <a:xfrm>
            <a:off x="365687" y="36882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E6879E-8220-831C-0D7C-43A35FF94221}"/>
              </a:ext>
            </a:extLst>
          </p:cNvPr>
          <p:cNvSpPr/>
          <p:nvPr/>
        </p:nvSpPr>
        <p:spPr>
          <a:xfrm>
            <a:off x="2078093" y="3244131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787E7C-5A5A-1A66-135F-718A678AA61A}"/>
              </a:ext>
            </a:extLst>
          </p:cNvPr>
          <p:cNvSpPr txBox="1"/>
          <p:nvPr/>
        </p:nvSpPr>
        <p:spPr>
          <a:xfrm>
            <a:off x="2324584" y="3688269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8FF7FAEA-3FA9-0914-DE70-813AFAEF4242}"/>
              </a:ext>
            </a:extLst>
          </p:cNvPr>
          <p:cNvSpPr/>
          <p:nvPr/>
        </p:nvSpPr>
        <p:spPr>
          <a:xfrm rot="5400000" flipH="1">
            <a:off x="907851" y="1879011"/>
            <a:ext cx="540689" cy="20486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C2A264FC-7594-B5F3-A998-1F60EA66FB2F}"/>
              </a:ext>
            </a:extLst>
          </p:cNvPr>
          <p:cNvSpPr/>
          <p:nvPr/>
        </p:nvSpPr>
        <p:spPr>
          <a:xfrm rot="16200000">
            <a:off x="6711139" y="-1828408"/>
            <a:ext cx="616145" cy="9528933"/>
          </a:xfrm>
          <a:prstGeom prst="leftBrace">
            <a:avLst>
              <a:gd name="adj1" fmla="val 8333"/>
              <a:gd name="adj2" fmla="val 124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8E4276-7AF9-39AF-6B9B-0BF5AAF019AB}"/>
              </a:ext>
            </a:extLst>
          </p:cNvPr>
          <p:cNvCxnSpPr>
            <a:cxnSpLocks/>
          </p:cNvCxnSpPr>
          <p:nvPr/>
        </p:nvCxnSpPr>
        <p:spPr>
          <a:xfrm>
            <a:off x="4985468" y="4126727"/>
            <a:ext cx="14868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557D791-B53B-B12A-5A19-DA4DD89C9256}"/>
              </a:ext>
            </a:extLst>
          </p:cNvPr>
          <p:cNvSpPr txBox="1"/>
          <p:nvPr/>
        </p:nvSpPr>
        <p:spPr>
          <a:xfrm>
            <a:off x="7405161" y="5155688"/>
            <a:ext cx="37609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Final Table der ausgegeben wird,</a:t>
            </a:r>
          </a:p>
          <a:p>
            <a:r>
              <a:rPr lang="de-AT" dirty="0"/>
              <a:t>Kann dann in R mittels PG </a:t>
            </a:r>
            <a:r>
              <a:rPr lang="de-AT" dirty="0" err="1"/>
              <a:t>Qvalue</a:t>
            </a:r>
            <a:r>
              <a:rPr lang="de-AT" dirty="0"/>
              <a:t> oder anderer zusätzlicher </a:t>
            </a:r>
            <a:r>
              <a:rPr lang="de-AT" dirty="0" err="1"/>
              <a:t>Qvalue</a:t>
            </a:r>
            <a:r>
              <a:rPr lang="de-AT" dirty="0"/>
              <a:t> für PGs gefiltert werden für PG-level Ergebnisse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0C3896-2661-0ED3-225F-049A5A1E3F26}"/>
              </a:ext>
            </a:extLst>
          </p:cNvPr>
          <p:cNvSpPr txBox="1"/>
          <p:nvPr/>
        </p:nvSpPr>
        <p:spPr>
          <a:xfrm>
            <a:off x="6533169" y="3665062"/>
            <a:ext cx="5504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Optionally</a:t>
            </a:r>
            <a:r>
              <a:rPr lang="de-AT" dirty="0"/>
              <a:t> (</a:t>
            </a:r>
            <a:r>
              <a:rPr lang="de-AT" dirty="0" err="1"/>
              <a:t>config</a:t>
            </a:r>
            <a:r>
              <a:rPr lang="de-AT" dirty="0"/>
              <a:t>: </a:t>
            </a:r>
            <a:r>
              <a:rPr lang="de-AT" dirty="0" err="1"/>
              <a:t>keep_ambiguous_protein_groups</a:t>
            </a:r>
            <a:r>
              <a:rPr lang="de-AT" dirty="0"/>
              <a:t>) </a:t>
            </a:r>
          </a:p>
          <a:p>
            <a:r>
              <a:rPr lang="de-AT" dirty="0"/>
              <a:t>Filter out </a:t>
            </a:r>
            <a:r>
              <a:rPr lang="de-AT" dirty="0" err="1"/>
              <a:t>precursors</a:t>
            </a:r>
            <a:r>
              <a:rPr lang="de-AT" dirty="0"/>
              <a:t>/PGs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ambiguous</a:t>
            </a:r>
            <a:r>
              <a:rPr lang="de-AT" dirty="0"/>
              <a:t> (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protein</a:t>
            </a:r>
            <a:r>
              <a:rPr lang="de-AT" dirty="0"/>
              <a:t>)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112FD74-2C9E-6AE5-7CB3-6B62FBB9A6DE}"/>
              </a:ext>
            </a:extLst>
          </p:cNvPr>
          <p:cNvCxnSpPr>
            <a:stCxn id="19" idx="2"/>
            <a:endCxn id="18" idx="0"/>
          </p:cNvCxnSpPr>
          <p:nvPr/>
        </p:nvCxnSpPr>
        <p:spPr>
          <a:xfrm>
            <a:off x="9285645" y="4588392"/>
            <a:ext cx="0" cy="567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522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BEE67-7AA2-0EE6-5F08-1DE1B263B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4061A3-4936-E2B2-CD12-70CC6C9D2091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Input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532E3F-CFCE-A185-6DE4-0C78E7067A1C}"/>
              </a:ext>
            </a:extLst>
          </p:cNvPr>
          <p:cNvSpPr/>
          <p:nvPr/>
        </p:nvSpPr>
        <p:spPr>
          <a:xfrm>
            <a:off x="321013" y="1693628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CAC775-AA21-4A49-C788-4AA0962AB1F3}"/>
              </a:ext>
            </a:extLst>
          </p:cNvPr>
          <p:cNvSpPr/>
          <p:nvPr/>
        </p:nvSpPr>
        <p:spPr>
          <a:xfrm>
            <a:off x="2976664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354B2-E59E-4F3D-78A0-FC856086E7FD}"/>
              </a:ext>
            </a:extLst>
          </p:cNvPr>
          <p:cNvSpPr/>
          <p:nvPr/>
        </p:nvSpPr>
        <p:spPr>
          <a:xfrm>
            <a:off x="2976663" y="3228230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A39A16-3764-25E1-2AB0-AE0E5C4A9A77}"/>
              </a:ext>
            </a:extLst>
          </p:cNvPr>
          <p:cNvSpPr/>
          <p:nvPr/>
        </p:nvSpPr>
        <p:spPr>
          <a:xfrm>
            <a:off x="2976662" y="4762832"/>
            <a:ext cx="1924215" cy="153460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295C02-F7D6-CA5A-0121-BEE13DCD0005}"/>
              </a:ext>
            </a:extLst>
          </p:cNvPr>
          <p:cNvSpPr txBox="1"/>
          <p:nvPr/>
        </p:nvSpPr>
        <p:spPr>
          <a:xfrm>
            <a:off x="321013" y="1324296"/>
            <a:ext cx="19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RAW </a:t>
            </a:r>
            <a:r>
              <a:rPr lang="de-AT" dirty="0" err="1"/>
              <a:t>file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EFD0F5-4BE9-5531-143E-C665F0BD3CDF}"/>
              </a:ext>
            </a:extLst>
          </p:cNvPr>
          <p:cNvSpPr txBox="1"/>
          <p:nvPr/>
        </p:nvSpPr>
        <p:spPr>
          <a:xfrm>
            <a:off x="2610940" y="216300"/>
            <a:ext cx="26556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Main </a:t>
            </a:r>
            <a:r>
              <a:rPr lang="de-AT" dirty="0" err="1"/>
              <a:t>report</a:t>
            </a:r>
            <a:r>
              <a:rPr lang="de-AT" dirty="0"/>
              <a:t> (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RAW </a:t>
            </a:r>
            <a:r>
              <a:rPr lang="de-AT" dirty="0" err="1"/>
              <a:t>files</a:t>
            </a:r>
            <a:r>
              <a:rPr lang="de-AT" dirty="0"/>
              <a:t>), gleicher wie vorher, aber anderes RAW </a:t>
            </a:r>
            <a:r>
              <a:rPr lang="de-AT" dirty="0" err="1"/>
              <a:t>file</a:t>
            </a:r>
            <a:r>
              <a:rPr lang="de-AT" dirty="0"/>
              <a:t> als </a:t>
            </a:r>
            <a:r>
              <a:rPr lang="de-AT" dirty="0" err="1"/>
              <a:t>input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84928-09D4-26A9-A4D0-719D8373F851}"/>
              </a:ext>
            </a:extLst>
          </p:cNvPr>
          <p:cNvSpPr txBox="1"/>
          <p:nvPr/>
        </p:nvSpPr>
        <p:spPr>
          <a:xfrm>
            <a:off x="659958" y="2250219"/>
            <a:ext cx="89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63115-E06B-1DFC-FE48-4059C7AFE94C}"/>
              </a:ext>
            </a:extLst>
          </p:cNvPr>
          <p:cNvSpPr txBox="1"/>
          <p:nvPr/>
        </p:nvSpPr>
        <p:spPr>
          <a:xfrm>
            <a:off x="3188472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510C61-BD45-00DA-81F5-479842A06516}"/>
              </a:ext>
            </a:extLst>
          </p:cNvPr>
          <p:cNvSpPr txBox="1"/>
          <p:nvPr/>
        </p:nvSpPr>
        <p:spPr>
          <a:xfrm>
            <a:off x="3111873" y="3672365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6A4DD5-B1F4-C980-55A4-5216F01A2954}"/>
              </a:ext>
            </a:extLst>
          </p:cNvPr>
          <p:cNvSpPr txBox="1"/>
          <p:nvPr/>
        </p:nvSpPr>
        <p:spPr>
          <a:xfrm>
            <a:off x="3188471" y="5089023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RAW3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7E01F4-559C-FF09-E279-152A3D14C467}"/>
              </a:ext>
            </a:extLst>
          </p:cNvPr>
          <p:cNvSpPr txBox="1"/>
          <p:nvPr/>
        </p:nvSpPr>
        <p:spPr>
          <a:xfrm>
            <a:off x="321013" y="55152"/>
            <a:ext cx="318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b="1" dirty="0" err="1"/>
              <a:t>Example</a:t>
            </a:r>
            <a:r>
              <a:rPr lang="de-AT" b="1" dirty="0"/>
              <a:t> 2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4ED5F7-7FED-4BDD-6BDC-EFD27BE12C14}"/>
              </a:ext>
            </a:extLst>
          </p:cNvPr>
          <p:cNvSpPr/>
          <p:nvPr/>
        </p:nvSpPr>
        <p:spPr>
          <a:xfrm>
            <a:off x="6096000" y="1693628"/>
            <a:ext cx="1924215" cy="153460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57E30A-2617-47A5-E3E7-F9D14C342D02}"/>
              </a:ext>
            </a:extLst>
          </p:cNvPr>
          <p:cNvSpPr/>
          <p:nvPr/>
        </p:nvSpPr>
        <p:spPr>
          <a:xfrm>
            <a:off x="8745109" y="1693628"/>
            <a:ext cx="1924215" cy="1534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849D2D-0470-3A29-38D3-27F543498AA2}"/>
              </a:ext>
            </a:extLst>
          </p:cNvPr>
          <p:cNvSpPr txBox="1"/>
          <p:nvPr/>
        </p:nvSpPr>
        <p:spPr>
          <a:xfrm>
            <a:off x="6096000" y="1270875"/>
            <a:ext cx="1561106" cy="367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config.toml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2B99FF-FDC6-480F-6980-E57F3E6475DF}"/>
              </a:ext>
            </a:extLst>
          </p:cNvPr>
          <p:cNvSpPr txBox="1"/>
          <p:nvPr/>
        </p:nvSpPr>
        <p:spPr>
          <a:xfrm>
            <a:off x="8745109" y="1328675"/>
            <a:ext cx="1838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Resolution.csv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E2B29-D913-4931-FB0C-4E82D6A5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7AF1CD-7AE7-4657-E842-9CBE5057263E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1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336AE8-DAEA-613B-6647-3F403C595175}"/>
              </a:ext>
            </a:extLst>
          </p:cNvPr>
          <p:cNvSpPr/>
          <p:nvPr/>
        </p:nvSpPr>
        <p:spPr>
          <a:xfrm>
            <a:off x="321013" y="1693628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0D12E5-C04F-4584-6ED8-9D1502B735D9}"/>
              </a:ext>
            </a:extLst>
          </p:cNvPr>
          <p:cNvSpPr/>
          <p:nvPr/>
        </p:nvSpPr>
        <p:spPr>
          <a:xfrm>
            <a:off x="2976664" y="1693628"/>
            <a:ext cx="1924215" cy="15346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C3C40-EE01-C63F-22E4-C7A4CAE5771C}"/>
              </a:ext>
            </a:extLst>
          </p:cNvPr>
          <p:cNvSpPr/>
          <p:nvPr/>
        </p:nvSpPr>
        <p:spPr>
          <a:xfrm>
            <a:off x="2976663" y="3228230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C47F27-16B5-8624-76D1-7DCCEDC02557}"/>
              </a:ext>
            </a:extLst>
          </p:cNvPr>
          <p:cNvSpPr/>
          <p:nvPr/>
        </p:nvSpPr>
        <p:spPr>
          <a:xfrm>
            <a:off x="2976662" y="4762832"/>
            <a:ext cx="1924215" cy="153460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21EA2A-758C-9A38-3448-B471F86FBF05}"/>
              </a:ext>
            </a:extLst>
          </p:cNvPr>
          <p:cNvSpPr txBox="1"/>
          <p:nvPr/>
        </p:nvSpPr>
        <p:spPr>
          <a:xfrm>
            <a:off x="321013" y="1324296"/>
            <a:ext cx="1924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RAW </a:t>
            </a:r>
            <a:r>
              <a:rPr lang="de-AT" dirty="0" err="1"/>
              <a:t>file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EF120-FDAD-A144-FB61-AC85C6CC743A}"/>
              </a:ext>
            </a:extLst>
          </p:cNvPr>
          <p:cNvSpPr txBox="1"/>
          <p:nvPr/>
        </p:nvSpPr>
        <p:spPr>
          <a:xfrm>
            <a:off x="659958" y="2250219"/>
            <a:ext cx="890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BC22A4-5D93-986B-9220-732FFC4A2092}"/>
              </a:ext>
            </a:extLst>
          </p:cNvPr>
          <p:cNvSpPr txBox="1"/>
          <p:nvPr/>
        </p:nvSpPr>
        <p:spPr>
          <a:xfrm>
            <a:off x="3188472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2A651E-525C-33B5-2A84-C415EAFC1228}"/>
              </a:ext>
            </a:extLst>
          </p:cNvPr>
          <p:cNvSpPr txBox="1"/>
          <p:nvPr/>
        </p:nvSpPr>
        <p:spPr>
          <a:xfrm>
            <a:off x="3111873" y="3672365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DED5A-6D77-C9F0-6205-45C88D82A198}"/>
              </a:ext>
            </a:extLst>
          </p:cNvPr>
          <p:cNvSpPr txBox="1"/>
          <p:nvPr/>
        </p:nvSpPr>
        <p:spPr>
          <a:xfrm>
            <a:off x="3188471" y="5089023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RAW1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F5F0A8A-BC1C-1227-137C-5ED63C264C1A}"/>
              </a:ext>
            </a:extLst>
          </p:cNvPr>
          <p:cNvCxnSpPr>
            <a:cxnSpLocks/>
          </p:cNvCxnSpPr>
          <p:nvPr/>
        </p:nvCxnSpPr>
        <p:spPr>
          <a:xfrm>
            <a:off x="5112689" y="2425148"/>
            <a:ext cx="3705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770FD9D-2346-82F3-759B-1833BCDB3B9D}"/>
              </a:ext>
            </a:extLst>
          </p:cNvPr>
          <p:cNvSpPr txBox="1"/>
          <p:nvPr/>
        </p:nvSpPr>
        <p:spPr>
          <a:xfrm>
            <a:off x="5518205" y="1463040"/>
            <a:ext cx="30771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Filter </a:t>
            </a:r>
            <a:r>
              <a:rPr lang="de-AT" dirty="0" err="1"/>
              <a:t>main</a:t>
            </a:r>
            <a:r>
              <a:rPr lang="de-AT" dirty="0"/>
              <a:t> </a:t>
            </a:r>
            <a:r>
              <a:rPr lang="de-AT" dirty="0" err="1"/>
              <a:t>report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contain</a:t>
            </a:r>
            <a:r>
              <a:rPr lang="de-AT" dirty="0"/>
              <a:t>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RAW2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D74E17-532B-9824-C09D-B891D657FA2F}"/>
              </a:ext>
            </a:extLst>
          </p:cNvPr>
          <p:cNvSpPr/>
          <p:nvPr/>
        </p:nvSpPr>
        <p:spPr>
          <a:xfrm>
            <a:off x="9212686" y="1693628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D5F7CF-260E-7786-B0EA-78FF8FC4981D}"/>
              </a:ext>
            </a:extLst>
          </p:cNvPr>
          <p:cNvSpPr txBox="1"/>
          <p:nvPr/>
        </p:nvSpPr>
        <p:spPr>
          <a:xfrm>
            <a:off x="9424494" y="2137764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3331C0-2AF0-9712-F34D-B30EC8A955B7}"/>
              </a:ext>
            </a:extLst>
          </p:cNvPr>
          <p:cNvSpPr txBox="1"/>
          <p:nvPr/>
        </p:nvSpPr>
        <p:spPr>
          <a:xfrm>
            <a:off x="2610940" y="216300"/>
            <a:ext cx="265565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Main </a:t>
            </a:r>
            <a:r>
              <a:rPr lang="de-AT" dirty="0" err="1"/>
              <a:t>report</a:t>
            </a:r>
            <a:r>
              <a:rPr lang="de-AT" dirty="0"/>
              <a:t> (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search</a:t>
            </a:r>
            <a:r>
              <a:rPr lang="de-AT" dirty="0"/>
              <a:t>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or</a:t>
            </a:r>
            <a:r>
              <a:rPr lang="de-AT" dirty="0"/>
              <a:t> </a:t>
            </a:r>
            <a:r>
              <a:rPr lang="de-AT" dirty="0" err="1"/>
              <a:t>more</a:t>
            </a:r>
            <a:r>
              <a:rPr lang="de-AT" dirty="0"/>
              <a:t> RAW </a:t>
            </a:r>
            <a:r>
              <a:rPr lang="de-AT" dirty="0" err="1"/>
              <a:t>files</a:t>
            </a:r>
            <a:r>
              <a:rPr lang="de-AT" dirty="0"/>
              <a:t>), gleicher wie vorher, aber anderes RAW </a:t>
            </a:r>
            <a:r>
              <a:rPr lang="de-AT" dirty="0" err="1"/>
              <a:t>file</a:t>
            </a:r>
            <a:r>
              <a:rPr lang="de-AT" dirty="0"/>
              <a:t> als </a:t>
            </a:r>
            <a:r>
              <a:rPr lang="de-AT" dirty="0" err="1"/>
              <a:t>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034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50307-A6AB-B704-FB78-49DBA3EED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B480E0-BA60-F308-139E-AA87E238FAAE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2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0BAD216-E662-3472-731C-FCEB291AA2CF}"/>
              </a:ext>
            </a:extLst>
          </p:cNvPr>
          <p:cNvCxnSpPr>
            <a:cxnSpLocks/>
          </p:cNvCxnSpPr>
          <p:nvPr/>
        </p:nvCxnSpPr>
        <p:spPr>
          <a:xfrm>
            <a:off x="3053301" y="2512613"/>
            <a:ext cx="37053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6B131D3-34FA-B09D-E4C0-8DA4E6D25E02}"/>
              </a:ext>
            </a:extLst>
          </p:cNvPr>
          <p:cNvSpPr/>
          <p:nvPr/>
        </p:nvSpPr>
        <p:spPr>
          <a:xfrm>
            <a:off x="537813" y="1725433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DE21D1C-8AB0-8564-9960-CE48FA8C2874}"/>
              </a:ext>
            </a:extLst>
          </p:cNvPr>
          <p:cNvSpPr txBox="1"/>
          <p:nvPr/>
        </p:nvSpPr>
        <p:spPr>
          <a:xfrm>
            <a:off x="749621" y="21695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0FA3F-CF04-5103-D277-10FE55BAB471}"/>
              </a:ext>
            </a:extLst>
          </p:cNvPr>
          <p:cNvSpPr txBox="1"/>
          <p:nvPr/>
        </p:nvSpPr>
        <p:spPr>
          <a:xfrm>
            <a:off x="3506526" y="1125268"/>
            <a:ext cx="3005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Quantify</a:t>
            </a:r>
            <a:r>
              <a:rPr lang="de-AT" dirty="0"/>
              <a:t> </a:t>
            </a:r>
            <a:r>
              <a:rPr lang="de-AT" dirty="0" err="1"/>
              <a:t>precursors</a:t>
            </a:r>
            <a:r>
              <a:rPr lang="de-AT" dirty="0"/>
              <a:t> </a:t>
            </a:r>
            <a:r>
              <a:rPr lang="de-AT" dirty="0" err="1"/>
              <a:t>with</a:t>
            </a:r>
            <a:r>
              <a:rPr lang="de-AT" dirty="0"/>
              <a:t> </a:t>
            </a:r>
            <a:r>
              <a:rPr lang="de-AT" dirty="0" err="1"/>
              <a:t>OpenMS</a:t>
            </a:r>
            <a:r>
              <a:rPr lang="de-AT" dirty="0"/>
              <a:t>, </a:t>
            </a:r>
            <a:r>
              <a:rPr lang="de-AT" dirty="0" err="1"/>
              <a:t>add</a:t>
            </a:r>
            <a:r>
              <a:rPr lang="de-AT" dirty="0"/>
              <a:t> </a:t>
            </a:r>
            <a:r>
              <a:rPr lang="de-AT" dirty="0" err="1"/>
              <a:t>columns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Resolution.csv, </a:t>
            </a:r>
            <a:r>
              <a:rPr lang="de-AT" dirty="0" err="1"/>
              <a:t>subtract</a:t>
            </a:r>
            <a:r>
              <a:rPr lang="de-AT" dirty="0"/>
              <a:t> </a:t>
            </a:r>
            <a:r>
              <a:rPr lang="de-AT" dirty="0" err="1"/>
              <a:t>noise</a:t>
            </a:r>
            <a:r>
              <a:rPr lang="de-AT" dirty="0"/>
              <a:t>, </a:t>
            </a:r>
            <a:r>
              <a:rPr lang="de-AT" dirty="0" err="1"/>
              <a:t>calculate</a:t>
            </a:r>
            <a:r>
              <a:rPr lang="de-AT" dirty="0"/>
              <a:t> S/N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A7909F-62E2-565A-322F-B1BBE0155D6E}"/>
              </a:ext>
            </a:extLst>
          </p:cNvPr>
          <p:cNvSpPr/>
          <p:nvPr/>
        </p:nvSpPr>
        <p:spPr>
          <a:xfrm>
            <a:off x="7075111" y="1725433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C1E6F6-B643-2C69-5423-0FA1B9143D55}"/>
              </a:ext>
            </a:extLst>
          </p:cNvPr>
          <p:cNvSpPr txBox="1"/>
          <p:nvPr/>
        </p:nvSpPr>
        <p:spPr>
          <a:xfrm>
            <a:off x="7286919" y="21695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C01A13A-9927-CE74-1DDE-77DBE673AF3A}"/>
              </a:ext>
            </a:extLst>
          </p:cNvPr>
          <p:cNvSpPr/>
          <p:nvPr/>
        </p:nvSpPr>
        <p:spPr>
          <a:xfrm>
            <a:off x="8999325" y="1725431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7F17A68-73FC-7A56-EA27-D3ACB51565DD}"/>
              </a:ext>
            </a:extLst>
          </p:cNvPr>
          <p:cNvGraphicFramePr>
            <a:graphicFrameLocks noGrp="1"/>
          </p:cNvGraphicFramePr>
          <p:nvPr/>
        </p:nvGraphicFramePr>
        <p:xfrm>
          <a:off x="3657601" y="88522"/>
          <a:ext cx="836446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154">
                  <a:extLst>
                    <a:ext uri="{9D8B030D-6E8A-4147-A177-3AD203B41FA5}">
                      <a16:colId xmlns:a16="http://schemas.microsoft.com/office/drawing/2014/main" val="2068300146"/>
                    </a:ext>
                  </a:extLst>
                </a:gridCol>
                <a:gridCol w="2788154">
                  <a:extLst>
                    <a:ext uri="{9D8B030D-6E8A-4147-A177-3AD203B41FA5}">
                      <a16:colId xmlns:a16="http://schemas.microsoft.com/office/drawing/2014/main" val="1470521782"/>
                    </a:ext>
                  </a:extLst>
                </a:gridCol>
                <a:gridCol w="2788154">
                  <a:extLst>
                    <a:ext uri="{9D8B030D-6E8A-4147-A177-3AD203B41FA5}">
                      <a16:colId xmlns:a16="http://schemas.microsoft.com/office/drawing/2014/main" val="2355916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808430"/>
                  </a:ext>
                </a:extLst>
              </a:tr>
            </a:tbl>
          </a:graphicData>
        </a:graphic>
      </p:graphicFrame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012A17-1EC4-0E8E-629F-37F9BD304BB0}"/>
              </a:ext>
            </a:extLst>
          </p:cNvPr>
          <p:cNvCxnSpPr/>
          <p:nvPr/>
        </p:nvCxnSpPr>
        <p:spPr>
          <a:xfrm>
            <a:off x="3657601" y="728602"/>
            <a:ext cx="5341724" cy="99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C42B347-7062-97BA-C726-E83D43CECA43}"/>
              </a:ext>
            </a:extLst>
          </p:cNvPr>
          <p:cNvCxnSpPr/>
          <p:nvPr/>
        </p:nvCxnSpPr>
        <p:spPr>
          <a:xfrm flipH="1">
            <a:off x="11783832" y="728602"/>
            <a:ext cx="238231" cy="9968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86C33B3-1E4E-B487-EDEC-FD6A47FAE0D9}"/>
              </a:ext>
            </a:extLst>
          </p:cNvPr>
          <p:cNvSpPr txBox="1"/>
          <p:nvPr/>
        </p:nvSpPr>
        <p:spPr>
          <a:xfrm>
            <a:off x="9245816" y="2169569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965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F7BA-6918-7950-0DCD-F16013C08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76F785-E06A-2837-AA82-5E26FAFE4C9D}"/>
              </a:ext>
            </a:extLst>
          </p:cNvPr>
          <p:cNvSpPr txBox="1"/>
          <p:nvPr/>
        </p:nvSpPr>
        <p:spPr>
          <a:xfrm>
            <a:off x="321013" y="408562"/>
            <a:ext cx="2655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Step</a:t>
            </a:r>
            <a:r>
              <a:rPr lang="de-AT" dirty="0"/>
              <a:t> 3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F674F4-1079-4FB3-8633-692FF19F7531}"/>
              </a:ext>
            </a:extLst>
          </p:cNvPr>
          <p:cNvSpPr/>
          <p:nvPr/>
        </p:nvSpPr>
        <p:spPr>
          <a:xfrm>
            <a:off x="321013" y="1184745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D15489-78B4-A47E-277A-8A1B251F87CF}"/>
              </a:ext>
            </a:extLst>
          </p:cNvPr>
          <p:cNvSpPr txBox="1"/>
          <p:nvPr/>
        </p:nvSpPr>
        <p:spPr>
          <a:xfrm>
            <a:off x="532821" y="1628881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E9DB5A-E248-5799-F016-81EFF47975F1}"/>
              </a:ext>
            </a:extLst>
          </p:cNvPr>
          <p:cNvSpPr/>
          <p:nvPr/>
        </p:nvSpPr>
        <p:spPr>
          <a:xfrm>
            <a:off x="2245227" y="1184743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CF015C-0685-887D-5EF9-EB49337F279E}"/>
              </a:ext>
            </a:extLst>
          </p:cNvPr>
          <p:cNvSpPr txBox="1"/>
          <p:nvPr/>
        </p:nvSpPr>
        <p:spPr>
          <a:xfrm>
            <a:off x="2491718" y="1628881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DB4CF2-BAD5-6EC5-C1FC-7C502D1FEADB}"/>
              </a:ext>
            </a:extLst>
          </p:cNvPr>
          <p:cNvGraphicFramePr>
            <a:graphicFrameLocks noGrp="1"/>
          </p:cNvGraphicFramePr>
          <p:nvPr/>
        </p:nvGraphicFramePr>
        <p:xfrm>
          <a:off x="321012" y="3295888"/>
          <a:ext cx="973738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3103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866513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2516830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757095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4303846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17FE29-DB10-6902-C30F-3E2074836726}"/>
              </a:ext>
            </a:extLst>
          </p:cNvPr>
          <p:cNvCxnSpPr/>
          <p:nvPr/>
        </p:nvCxnSpPr>
        <p:spPr>
          <a:xfrm>
            <a:off x="5029734" y="5319423"/>
            <a:ext cx="0" cy="13040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BE1D97A-C69A-0C79-B6F2-902739CEDBA4}"/>
              </a:ext>
            </a:extLst>
          </p:cNvPr>
          <p:cNvSpPr txBox="1"/>
          <p:nvPr/>
        </p:nvSpPr>
        <p:spPr>
          <a:xfrm>
            <a:off x="5383032" y="5726629"/>
            <a:ext cx="414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Summiere alle </a:t>
            </a:r>
            <a:r>
              <a:rPr lang="de-AT" dirty="0" err="1"/>
              <a:t>precursor</a:t>
            </a:r>
            <a:r>
              <a:rPr lang="de-AT" dirty="0"/>
              <a:t> zu PG</a:t>
            </a:r>
            <a:endParaRPr lang="en-US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A14D032-9A9C-63E6-0CC4-D8F9EEB51FBF}"/>
              </a:ext>
            </a:extLst>
          </p:cNvPr>
          <p:cNvSpPr/>
          <p:nvPr/>
        </p:nvSpPr>
        <p:spPr>
          <a:xfrm rot="5400000">
            <a:off x="1149899" y="1954069"/>
            <a:ext cx="512931" cy="2170706"/>
          </a:xfrm>
          <a:prstGeom prst="leftBrace">
            <a:avLst>
              <a:gd name="adj1" fmla="val 8333"/>
              <a:gd name="adj2" fmla="val 5036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C44254A7-1003-3334-C457-70DE58BAC1A3}"/>
              </a:ext>
            </a:extLst>
          </p:cNvPr>
          <p:cNvSpPr/>
          <p:nvPr/>
        </p:nvSpPr>
        <p:spPr>
          <a:xfrm rot="5400000">
            <a:off x="6025058" y="-737453"/>
            <a:ext cx="512931" cy="7553754"/>
          </a:xfrm>
          <a:prstGeom prst="leftBrace">
            <a:avLst>
              <a:gd name="adj1" fmla="val 8333"/>
              <a:gd name="adj2" fmla="val 860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02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BF4F4-B811-AAEE-1CAF-EF08D56E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32B74F8-5659-31A0-1507-906865C2F00A}"/>
              </a:ext>
            </a:extLst>
          </p:cNvPr>
          <p:cNvCxnSpPr>
            <a:cxnSpLocks/>
          </p:cNvCxnSpPr>
          <p:nvPr/>
        </p:nvCxnSpPr>
        <p:spPr>
          <a:xfrm>
            <a:off x="5053588" y="71562"/>
            <a:ext cx="0" cy="7765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A4C72AC-06DD-9299-C1E5-CE21AD1AC2DD}"/>
              </a:ext>
            </a:extLst>
          </p:cNvPr>
          <p:cNvSpPr txBox="1"/>
          <p:nvPr/>
        </p:nvSpPr>
        <p:spPr>
          <a:xfrm>
            <a:off x="5406886" y="478768"/>
            <a:ext cx="4142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Summiere alle </a:t>
            </a:r>
            <a:r>
              <a:rPr lang="de-AT" dirty="0" err="1"/>
              <a:t>precursor</a:t>
            </a:r>
            <a:r>
              <a:rPr lang="de-AT" dirty="0"/>
              <a:t> zu PG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3D6A1-A379-F4A7-0797-9C460D3284FC}"/>
              </a:ext>
            </a:extLst>
          </p:cNvPr>
          <p:cNvSpPr txBox="1"/>
          <p:nvPr/>
        </p:nvSpPr>
        <p:spPr>
          <a:xfrm>
            <a:off x="1987826" y="1023799"/>
            <a:ext cx="7140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Precursor</a:t>
            </a:r>
            <a:r>
              <a:rPr lang="de-AT" dirty="0"/>
              <a:t> wird nur dann summiert wenn:</a:t>
            </a:r>
          </a:p>
          <a:p>
            <a:pPr marL="285750" indent="-285750">
              <a:buFontTx/>
              <a:buChar char="-"/>
            </a:pPr>
            <a:r>
              <a:rPr lang="de-AT" dirty="0" err="1"/>
              <a:t>Qvalue</a:t>
            </a:r>
            <a:r>
              <a:rPr lang="de-AT" dirty="0"/>
              <a:t> &lt; 0.01 (oder was in </a:t>
            </a:r>
            <a:r>
              <a:rPr lang="de-AT" dirty="0" err="1"/>
              <a:t>config.toml</a:t>
            </a:r>
            <a:r>
              <a:rPr lang="de-AT" dirty="0"/>
              <a:t> definiert ist)</a:t>
            </a:r>
          </a:p>
          <a:p>
            <a:pPr marL="285750" indent="-285750">
              <a:buFontTx/>
              <a:buChar char="-"/>
            </a:pPr>
            <a:r>
              <a:rPr lang="de-AT" dirty="0" err="1"/>
              <a:t>Purity</a:t>
            </a:r>
            <a:r>
              <a:rPr lang="de-AT" dirty="0"/>
              <a:t> &gt;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endParaRPr lang="de-AT" dirty="0"/>
          </a:p>
          <a:p>
            <a:r>
              <a:rPr lang="de-AT" dirty="0"/>
              <a:t>Reporter wird nur dann summiert wenn:</a:t>
            </a:r>
          </a:p>
          <a:p>
            <a:pPr marL="285750" indent="-285750">
              <a:buFontTx/>
              <a:buChar char="-"/>
            </a:pPr>
            <a:r>
              <a:rPr lang="de-AT" dirty="0"/>
              <a:t>S/N von </a:t>
            </a:r>
            <a:r>
              <a:rPr lang="de-AT" dirty="0" err="1"/>
              <a:t>condition</a:t>
            </a:r>
            <a:r>
              <a:rPr lang="de-AT" dirty="0"/>
              <a:t>, in der </a:t>
            </a:r>
            <a:r>
              <a:rPr lang="de-AT" dirty="0" err="1"/>
              <a:t>reporter</a:t>
            </a:r>
            <a:r>
              <a:rPr lang="de-AT" dirty="0"/>
              <a:t> ist, größer </a:t>
            </a:r>
            <a:r>
              <a:rPr lang="de-AT" dirty="0" err="1"/>
              <a:t>as</a:t>
            </a:r>
            <a:r>
              <a:rPr lang="de-AT" dirty="0"/>
              <a:t>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r>
              <a:rPr lang="de-AT" dirty="0"/>
              <a:t>Reporter </a:t>
            </a:r>
            <a:r>
              <a:rPr lang="de-AT" dirty="0" err="1"/>
              <a:t>resolution</a:t>
            </a:r>
            <a:r>
              <a:rPr lang="de-AT" dirty="0"/>
              <a:t> &gt; </a:t>
            </a:r>
            <a:r>
              <a:rPr lang="de-AT" dirty="0" err="1"/>
              <a:t>config</a:t>
            </a:r>
            <a:r>
              <a:rPr lang="de-AT" dirty="0"/>
              <a:t> </a:t>
            </a:r>
            <a:r>
              <a:rPr lang="de-AT" dirty="0" err="1"/>
              <a:t>value</a:t>
            </a:r>
            <a:endParaRPr lang="de-AT" dirty="0"/>
          </a:p>
          <a:p>
            <a:pPr marL="285750" indent="-285750">
              <a:buFontTx/>
              <a:buChar char="-"/>
            </a:pPr>
            <a:endParaRPr lang="de-AT" dirty="0"/>
          </a:p>
          <a:p>
            <a:r>
              <a:rPr lang="de-AT" dirty="0"/>
              <a:t>Summiert werden alle </a:t>
            </a:r>
            <a:r>
              <a:rPr lang="de-AT" dirty="0" err="1"/>
              <a:t>Precursor</a:t>
            </a:r>
            <a:r>
              <a:rPr lang="de-AT" dirty="0"/>
              <a:t> die selbe PG haben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8ED18F-8C35-2AAA-E2A0-E932FF475A01}"/>
              </a:ext>
            </a:extLst>
          </p:cNvPr>
          <p:cNvGraphicFramePr>
            <a:graphicFrameLocks noGrp="1"/>
          </p:cNvGraphicFramePr>
          <p:nvPr/>
        </p:nvGraphicFramePr>
        <p:xfrm>
          <a:off x="281100" y="4283544"/>
          <a:ext cx="1162979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2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596347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1550505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  <a:gridCol w="3013544">
                  <a:extLst>
                    <a:ext uri="{9D8B030D-6E8A-4147-A177-3AD203B41FA5}">
                      <a16:colId xmlns:a16="http://schemas.microsoft.com/office/drawing/2014/main" val="1084641698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596730685"/>
                    </a:ext>
                  </a:extLst>
                </a:gridCol>
                <a:gridCol w="2668679">
                  <a:extLst>
                    <a:ext uri="{9D8B030D-6E8A-4147-A177-3AD203B41FA5}">
                      <a16:colId xmlns:a16="http://schemas.microsoft.com/office/drawing/2014/main" val="139885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TMTpro-126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TMTpro-135N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22A29FC-02D8-6813-C277-132AAC5B0525}"/>
              </a:ext>
            </a:extLst>
          </p:cNvPr>
          <p:cNvCxnSpPr>
            <a:cxnSpLocks/>
          </p:cNvCxnSpPr>
          <p:nvPr/>
        </p:nvCxnSpPr>
        <p:spPr>
          <a:xfrm>
            <a:off x="5053588" y="3784821"/>
            <a:ext cx="0" cy="408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469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73E2-E787-DF59-833D-3D13C93A1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53D972-518D-90EA-59D8-D705B1AE1CE6}"/>
              </a:ext>
            </a:extLst>
          </p:cNvPr>
          <p:cNvGraphicFramePr>
            <a:graphicFrameLocks noGrp="1"/>
          </p:cNvGraphicFramePr>
          <p:nvPr/>
        </p:nvGraphicFramePr>
        <p:xfrm>
          <a:off x="153879" y="164769"/>
          <a:ext cx="11629799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722">
                  <a:extLst>
                    <a:ext uri="{9D8B030D-6E8A-4147-A177-3AD203B41FA5}">
                      <a16:colId xmlns:a16="http://schemas.microsoft.com/office/drawing/2014/main" val="4133339483"/>
                    </a:ext>
                  </a:extLst>
                </a:gridCol>
                <a:gridCol w="707666">
                  <a:extLst>
                    <a:ext uri="{9D8B030D-6E8A-4147-A177-3AD203B41FA5}">
                      <a16:colId xmlns:a16="http://schemas.microsoft.com/office/drawing/2014/main" val="1406047663"/>
                    </a:ext>
                  </a:extLst>
                </a:gridCol>
                <a:gridCol w="1351722">
                  <a:extLst>
                    <a:ext uri="{9D8B030D-6E8A-4147-A177-3AD203B41FA5}">
                      <a16:colId xmlns:a16="http://schemas.microsoft.com/office/drawing/2014/main" val="846610116"/>
                    </a:ext>
                  </a:extLst>
                </a:gridCol>
                <a:gridCol w="596347">
                  <a:extLst>
                    <a:ext uri="{9D8B030D-6E8A-4147-A177-3AD203B41FA5}">
                      <a16:colId xmlns:a16="http://schemas.microsoft.com/office/drawing/2014/main" val="3418857916"/>
                    </a:ext>
                  </a:extLst>
                </a:gridCol>
                <a:gridCol w="1550505">
                  <a:extLst>
                    <a:ext uri="{9D8B030D-6E8A-4147-A177-3AD203B41FA5}">
                      <a16:colId xmlns:a16="http://schemas.microsoft.com/office/drawing/2014/main" val="774121704"/>
                    </a:ext>
                  </a:extLst>
                </a:gridCol>
                <a:gridCol w="3013544">
                  <a:extLst>
                    <a:ext uri="{9D8B030D-6E8A-4147-A177-3AD203B41FA5}">
                      <a16:colId xmlns:a16="http://schemas.microsoft.com/office/drawing/2014/main" val="1084641698"/>
                    </a:ext>
                  </a:extLst>
                </a:gridCol>
                <a:gridCol w="389614">
                  <a:extLst>
                    <a:ext uri="{9D8B030D-6E8A-4147-A177-3AD203B41FA5}">
                      <a16:colId xmlns:a16="http://schemas.microsoft.com/office/drawing/2014/main" val="596730685"/>
                    </a:ext>
                  </a:extLst>
                </a:gridCol>
                <a:gridCol w="2668679">
                  <a:extLst>
                    <a:ext uri="{9D8B030D-6E8A-4147-A177-3AD203B41FA5}">
                      <a16:colId xmlns:a16="http://schemas.microsoft.com/office/drawing/2014/main" val="13988545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 err="1"/>
                        <a:t>Precursor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TMTpro-135N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TMTpro-126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dirty="0" err="1"/>
                        <a:t>Annotated</a:t>
                      </a:r>
                      <a:r>
                        <a:rPr lang="de-AT" dirty="0"/>
                        <a:t> protein-level TMTpro-135N</a:t>
                      </a: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400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599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5994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76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/>
                        <a:t>Precursor4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PG3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29921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765EBE2-D168-C21A-BC6B-ED2CD031B521}"/>
              </a:ext>
            </a:extLst>
          </p:cNvPr>
          <p:cNvSpPr/>
          <p:nvPr/>
        </p:nvSpPr>
        <p:spPr>
          <a:xfrm>
            <a:off x="153879" y="3244133"/>
            <a:ext cx="1924215" cy="1534602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51938A-A141-780C-D9A8-6E895EC93760}"/>
              </a:ext>
            </a:extLst>
          </p:cNvPr>
          <p:cNvSpPr txBox="1"/>
          <p:nvPr/>
        </p:nvSpPr>
        <p:spPr>
          <a:xfrm>
            <a:off x="365687" y="3688269"/>
            <a:ext cx="165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>
                <a:solidFill>
                  <a:schemeClr val="bg1"/>
                </a:solidFill>
              </a:rPr>
              <a:t>Precursors</a:t>
            </a:r>
            <a:r>
              <a:rPr lang="de-AT" dirty="0">
                <a:solidFill>
                  <a:schemeClr val="bg1"/>
                </a:solidFill>
              </a:rPr>
              <a:t> </a:t>
            </a:r>
            <a:r>
              <a:rPr lang="de-AT" dirty="0" err="1">
                <a:solidFill>
                  <a:schemeClr val="bg1"/>
                </a:solidFill>
              </a:rPr>
              <a:t>from</a:t>
            </a:r>
            <a:r>
              <a:rPr lang="de-AT" dirty="0">
                <a:solidFill>
                  <a:schemeClr val="bg1"/>
                </a:solidFill>
              </a:rPr>
              <a:t> RAW2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21A04-A97F-8879-6264-D22A48A0F473}"/>
              </a:ext>
            </a:extLst>
          </p:cNvPr>
          <p:cNvSpPr/>
          <p:nvPr/>
        </p:nvSpPr>
        <p:spPr>
          <a:xfrm>
            <a:off x="2078093" y="3244131"/>
            <a:ext cx="2784507" cy="1534601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2401FF-DE5C-25F0-5690-4BB7CAD99727}"/>
              </a:ext>
            </a:extLst>
          </p:cNvPr>
          <p:cNvSpPr txBox="1"/>
          <p:nvPr/>
        </p:nvSpPr>
        <p:spPr>
          <a:xfrm>
            <a:off x="2324584" y="3688269"/>
            <a:ext cx="2196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solidFill>
                  <a:schemeClr val="bg1"/>
                </a:solidFill>
              </a:rPr>
              <a:t>Reporter </a:t>
            </a:r>
            <a:r>
              <a:rPr lang="de-AT" dirty="0" err="1">
                <a:solidFill>
                  <a:schemeClr val="bg1"/>
                </a:solidFill>
              </a:rPr>
              <a:t>Intensities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C41C81D2-7421-7CE9-C057-926E368A978F}"/>
              </a:ext>
            </a:extLst>
          </p:cNvPr>
          <p:cNvSpPr/>
          <p:nvPr/>
        </p:nvSpPr>
        <p:spPr>
          <a:xfrm rot="5400000" flipH="1">
            <a:off x="907851" y="1879011"/>
            <a:ext cx="540689" cy="204863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36C87967-127B-C396-5DA9-DA0D734C246A}"/>
              </a:ext>
            </a:extLst>
          </p:cNvPr>
          <p:cNvSpPr/>
          <p:nvPr/>
        </p:nvSpPr>
        <p:spPr>
          <a:xfrm rot="16200000">
            <a:off x="6711139" y="-1828408"/>
            <a:ext cx="616145" cy="9528933"/>
          </a:xfrm>
          <a:prstGeom prst="leftBrace">
            <a:avLst>
              <a:gd name="adj1" fmla="val 8333"/>
              <a:gd name="adj2" fmla="val 124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02B6F3-8F36-875D-04DB-FD0C050C0D2F}"/>
              </a:ext>
            </a:extLst>
          </p:cNvPr>
          <p:cNvCxnSpPr>
            <a:cxnSpLocks/>
          </p:cNvCxnSpPr>
          <p:nvPr/>
        </p:nvCxnSpPr>
        <p:spPr>
          <a:xfrm>
            <a:off x="4985468" y="4126727"/>
            <a:ext cx="14868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424998-DF23-8AD4-D4C7-A9361E47A58E}"/>
              </a:ext>
            </a:extLst>
          </p:cNvPr>
          <p:cNvSpPr txBox="1"/>
          <p:nvPr/>
        </p:nvSpPr>
        <p:spPr>
          <a:xfrm>
            <a:off x="7405161" y="5155688"/>
            <a:ext cx="376096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/>
              <a:t>Final Table der ausgegeben wird,</a:t>
            </a:r>
          </a:p>
          <a:p>
            <a:r>
              <a:rPr lang="de-AT" dirty="0"/>
              <a:t>Kann dann in R mittels PG </a:t>
            </a:r>
            <a:r>
              <a:rPr lang="de-AT" dirty="0" err="1"/>
              <a:t>Qvalue</a:t>
            </a:r>
            <a:r>
              <a:rPr lang="de-AT" dirty="0"/>
              <a:t> oder anderer zusätzlicher </a:t>
            </a:r>
            <a:r>
              <a:rPr lang="de-AT" dirty="0" err="1"/>
              <a:t>Qvalue</a:t>
            </a:r>
            <a:r>
              <a:rPr lang="de-AT" dirty="0"/>
              <a:t> für PGs gefiltert werden für PG-level Ergebnisse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DDDA12-3EC9-9CFB-FDC2-66B3F7737F87}"/>
              </a:ext>
            </a:extLst>
          </p:cNvPr>
          <p:cNvSpPr txBox="1"/>
          <p:nvPr/>
        </p:nvSpPr>
        <p:spPr>
          <a:xfrm>
            <a:off x="6533169" y="3665062"/>
            <a:ext cx="5504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err="1"/>
              <a:t>Optionally</a:t>
            </a:r>
            <a:r>
              <a:rPr lang="de-AT" dirty="0"/>
              <a:t> (</a:t>
            </a:r>
            <a:r>
              <a:rPr lang="de-AT" dirty="0" err="1"/>
              <a:t>config</a:t>
            </a:r>
            <a:r>
              <a:rPr lang="de-AT" dirty="0"/>
              <a:t>: </a:t>
            </a:r>
            <a:r>
              <a:rPr lang="de-AT" dirty="0" err="1"/>
              <a:t>keep_ambiguous_protein_groups</a:t>
            </a:r>
            <a:r>
              <a:rPr lang="de-AT" dirty="0"/>
              <a:t>) </a:t>
            </a:r>
          </a:p>
          <a:p>
            <a:r>
              <a:rPr lang="de-AT" dirty="0"/>
              <a:t>Filter out </a:t>
            </a:r>
            <a:r>
              <a:rPr lang="de-AT" dirty="0" err="1"/>
              <a:t>precursors</a:t>
            </a:r>
            <a:r>
              <a:rPr lang="de-AT" dirty="0"/>
              <a:t>/PGs </a:t>
            </a:r>
            <a:r>
              <a:rPr lang="de-AT" dirty="0" err="1"/>
              <a:t>that</a:t>
            </a:r>
            <a:r>
              <a:rPr lang="de-AT" dirty="0"/>
              <a:t> </a:t>
            </a:r>
            <a:r>
              <a:rPr lang="de-AT" dirty="0" err="1"/>
              <a:t>are</a:t>
            </a:r>
            <a:r>
              <a:rPr lang="de-AT" dirty="0"/>
              <a:t> </a:t>
            </a:r>
            <a:r>
              <a:rPr lang="de-AT" dirty="0" err="1"/>
              <a:t>ambiguous</a:t>
            </a:r>
            <a:r>
              <a:rPr lang="de-AT" dirty="0"/>
              <a:t> (</a:t>
            </a:r>
            <a:r>
              <a:rPr lang="de-AT" dirty="0" err="1"/>
              <a:t>more</a:t>
            </a:r>
            <a:r>
              <a:rPr lang="de-AT" dirty="0"/>
              <a:t> </a:t>
            </a:r>
            <a:r>
              <a:rPr lang="de-AT" dirty="0" err="1"/>
              <a:t>than</a:t>
            </a:r>
            <a:r>
              <a:rPr lang="de-AT" dirty="0"/>
              <a:t> </a:t>
            </a:r>
            <a:r>
              <a:rPr lang="de-AT" dirty="0" err="1"/>
              <a:t>one</a:t>
            </a:r>
            <a:r>
              <a:rPr lang="de-AT" dirty="0"/>
              <a:t> </a:t>
            </a:r>
            <a:r>
              <a:rPr lang="de-AT" dirty="0" err="1"/>
              <a:t>protein</a:t>
            </a:r>
            <a:r>
              <a:rPr lang="de-AT" dirty="0"/>
              <a:t>)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84698A3-0A45-69BF-3F04-B884360AFC61}"/>
              </a:ext>
            </a:extLst>
          </p:cNvPr>
          <p:cNvCxnSpPr>
            <a:stCxn id="19" idx="2"/>
            <a:endCxn id="18" idx="0"/>
          </p:cNvCxnSpPr>
          <p:nvPr/>
        </p:nvCxnSpPr>
        <p:spPr>
          <a:xfrm>
            <a:off x="9285645" y="4588392"/>
            <a:ext cx="0" cy="5672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114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690</Words>
  <Application>Microsoft Office PowerPoint</Application>
  <PresentationFormat>Widescreen</PresentationFormat>
  <Paragraphs>264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Birklbauer Micha</dc:creator>
  <cp:lastModifiedBy>Birklbauer Micha</cp:lastModifiedBy>
  <cp:revision>3</cp:revision>
  <dcterms:created xsi:type="dcterms:W3CDTF">2025-11-20T11:48:35Z</dcterms:created>
  <dcterms:modified xsi:type="dcterms:W3CDTF">2025-11-20T14:08:19Z</dcterms:modified>
</cp:coreProperties>
</file>